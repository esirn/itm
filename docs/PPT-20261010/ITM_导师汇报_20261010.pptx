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今天分三部分：先简单说明任务和意义；重点汇报当前实际方法、设置和结果；最后复盘为什么慢，以及下一阶段怎样收敛。基金摘要只作研究背景，不改变本文主线，也不虚构患者实验。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这是欠定问题，不是一个头部传感器就能精确测量全身。当前研究假设是两种信息互补，互补是否真的有效还需要去条件、语义和动作质量评价。也不能默认任意文本与给定头部观测都相容。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提供的基金摘要关注智能耳机双耳IMU、实时全局定标、物理约束与下肢运动学三维重建。这里只指出技术关联，不把本文改造成基金全部研究内容。合成head配置不是两个真实耳机IMU；没有双耳自监督校准、实时消除累积误差或临床验证。潜在医院用途仍需后续数据和专家需求，不能用生成的未观测手脚动作推断患者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当前不是还没跑出动作，而是还没有补齐投稿所需的语义、官方强基线、结构消融和正式测试。当前工作模型是扩展 U100，并非早期 Stage-2b 或三来源旧 U/F。Git 已整理且用户合并到 master。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文本由冻结CLIP编码；IMU处理成时序特征，真实信号和物理静态参照经共享编码器后相减，再通过各层线性适配器加到冻结MDM隐藏状态。生成从噪声开始，预测x0并做1000步DDPM。图1提示词见独立文件。没有GT头部位置或根轨迹输入，也没有复制完整ControlNet主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程上保留6个固定槽位，未观测槽位置零并带mask；单head实际只有12维观测。72维槽位值＋6维mask形成78维输入。编码器训练时两路径共享权重和dropout随机计划。静态差分不是“删除全部静态姿态”，也不能自动保证物理IMU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点必须讲清楚：任务方向收敛到head，原模型训练并没有删掉wrists。简单基线也使用相同来源和双配置训练；MDM是冻结的预训练文本基座。模型只取最终epoch，不以val挑checkpoint。CFG四分支是现有推理实现，不能单独当作创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AMASS来源动作及HumanML文本时间支持出发，统一SMPL前向计算；传感器顶点位置二阶差分得到世界线性加速度，segment全局旋转得到朝向。IMU缓存30Hz，经加速度线性插值、朝向SLERP到20Hz。GT为同源canonical动作，经HumanML263编码。没有给模型输入GT关节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按总帧数/20Hz计算，是名义帧量，不等于新增采集时长。来源隔离避免当前条件训练的文件重叠，但不能消除基座预训练接触HumanML动作的可能性。使用原标注，不等于所有新文本已人工认证。13来源的比例不均，后续正式测试需另设来源隔离协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MDM文本基座、简单Text+IMU和简单IMU-only都已进入32val表。官方IMUPoser代码有h配置，但本机12维模型与60维数据加载不一致，还需坐标/SMPL FK适配和重训。Ego4o是后续公开多模态方法对照候选，当前资产/接口尚未就绪；不填虚构分数。早期HY-Motion/MotionLab属于历史探索，不混入本轮共同主表。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输入IMU不直接测位置；当前头部关节15也是安装位置的代理。根轨迹作辅助报告，避免整体漂移污染局部结论，但不能隐藏global代价。jerk越低不自动越自然，静止也能低jerk；速度/幅度和行为必须一起看。标准语义评测器权重与GloVe在已核查目录缺失，尚未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重点解释单位：头部位置和全身相对姿态用cm，速度m/s，global用m，jerk用m/s³。这是同32来源，不能与旧8val混合。当前U全局误差仍有约0.79m，说明根位移代价不能忽略。表中所有对比都是实际输出，不是文献作者公开成绩，也不是正式tes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简单融合，头部位置数值接近（+1.63%）、速度略低（−1.76%），global低20.07%，但全身相对姿态和全身速度仍有代价。对IMU-only，头部位置高34.09%，必须补文本语义价值的证据，不能只靠平滑性宣布融合优越。没有显著性或等价性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原三个固定验证锚点之一，并非从32例挑最优。比较GT、当前U100和MDM；是否完成拍手及放手请现场看完整动作，不以单张图认证。显示采用各自骨盆XZ居中、保留高度；没有在指标中对齐模型。离线页还可切换世界坐标查看整体漂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之前认为出拳后转身、右腿后举里旧U/F还不错，但反馈未明确配置。本页为head配置，不能把之前印象改成头部验证成绩。旧三来源U/F与扩展U100的数据/归一化/训练曝光不同，不是单变量消融。完整六个熟悉例子都留在离线播放器中，避免只呈现正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候选完整训练并生成11条head动作，GT仅进入训练损失。头部位置改善主要体现于时间平均偏差，局部速度仅2/8来源改善。因此当前不替换原U100。不能把这个8val候选和原U32val拼成同一论文主表，也不能称它为最终有效损失模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准语义/FID、真实设备闭环和正式test不是本轮已完成项。静态参照差分、时序编码/时间编码还缺同预算完整训练消融；推理时关掉条件只能作敏感性分析，不能代替去条件重训。Method只写最终保留且有证据的模块，不把当前所有实现都自动列为创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旧材料记录A40阶段HY-Motion控制和质量探索，当前4090回到MDM/SMPL数据桥；用户也明确感到迁移成本高。本轮三成功队列合计约13.4分钟，不能外推整个课题耗时，但说明当前开发计算本身不是唯一瓶颈。不把过去审计贬为无价值，它解决了实际数据与数值问题；问题是没有和论文交付同步止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这不是把责任推给用户或AI。研究者未及时限定范围、AI未持续把局部工作映射回整体目标，都需要调整。不能以CPU测试、预检、运行完成来代替有效性。可以继续自主执行，但需要预算、交付和停止条件。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优先是用户已经明确的路线选择，也与基金背景有联系；不代表头部在所有指标上都最佳，更不据此改写本文为基金全部目标。服务器迁移建议固定主环境和独立产物存储，减少来回切换。本次会议材料不修改已冻结实验记录或论文LaTeX，也不凭当前结果承诺定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先让官方IMUPoser h配置有可复核数据/坐标/FK适配，再完整训练与同32val比较。同步补官方评测器资产，检查GT归一化/文本/长度，再做共同语义评价。随后选择两个真正保留的结构做同预算重训消融，再扩大来源与正式test/多种子。排程不写成固定日承诺，避免为了焦虑不断改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可以停在这一页讨论。若需要更细方法公式或完整指标，使用后面的附录。基金摘要已提供：这里请导师帮助界定本文与基金的关联程度，不承诺本文实现摘要全部目标。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所有分支是同一冻结骨干加控制模块的条件路径，text-only MDM基线通过原encoder旁路，避免控制分支在无IMU时留下残差。四分支组合在一次MDM调用里batch执行。对未来去文本评价应明确相同模型、相同输入及噪声计划。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这里公开全身速度和jerk，防止主表只呈现有利的头部列。没有经过GT接触支持审阅，不填foot skating的虚构数值。单seed的来源差异也不等同于跨训练种子的稳定性。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主材料是2026-10-10实际32val结果。旧论文tex里尚有过时的跨基座/结果措辞，不直接照搬。此次没有修改论文正文，没有新增模型训练或GPU查询。汇报视频来自既有完整输出，骨架展示是离线可视化。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文本＋头部 IMU → 全身动作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课题进展与路线收敛 · 导师讨论 · 2026.10.10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541775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7C78"/>
                </a:solidFill>
                <a:latin typeface="Microsoft YaHei"/>
              </a:defRPr>
            </a:pPr>
            <a:r>
              <a:t>当前定位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单头部 IMU 为主线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双腕作为扩展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8160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8160" y="1417320"/>
            <a:ext cx="3541775" cy="73152"/>
          </a:xfrm>
          <a:prstGeom prst="rect">
            <a:avLst/>
          </a:prstGeom>
          <a:solidFill>
            <a:srgbClr val="397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40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977AD"/>
                </a:solidFill>
                <a:latin typeface="Microsoft YaHei"/>
              </a:defRPr>
            </a:pPr>
            <a:r>
              <a:t>已完成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完整原型＋共同开发比较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4 方法 × 32 来源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9391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9391" y="1417320"/>
            <a:ext cx="3541775" cy="73152"/>
          </a:xfrm>
          <a:prstGeom prst="rect">
            <a:avLst/>
          </a:prstGeom>
          <a:solidFill>
            <a:srgbClr val="866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2271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8663AC"/>
                </a:solidFill>
                <a:latin typeface="Microsoft YaHei"/>
              </a:defRPr>
            </a:pPr>
            <a:r>
              <a:t>待解决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2271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语义、强基线与核心消融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尚未冻结最终论文结论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从“持续探索”转向“按论文交付推进”。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整体想法：让意图与实例信息互补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文本表达高层动作，头部 IMU 提供连续运动信息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541775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7C78"/>
                </a:solidFill>
                <a:latin typeface="Microsoft YaHei"/>
              </a:defRPr>
            </a:pPr>
            <a:r>
              <a:t>只有文本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能说“走路、转身、抬腿”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难以描述某次表演的逐帧变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8160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8160" y="1417320"/>
            <a:ext cx="3541775" cy="73152"/>
          </a:xfrm>
          <a:prstGeom prst="rect">
            <a:avLst/>
          </a:prstGeom>
          <a:solidFill>
            <a:srgbClr val="397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40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977AD"/>
                </a:solidFill>
                <a:latin typeface="Microsoft YaHei"/>
              </a:defRPr>
            </a:pPr>
            <a:r>
              <a:t>只有头部 IMU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能观测头部加速度和朝向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不能唯一确定手脚和全身动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9391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9391" y="1417320"/>
            <a:ext cx="3541775" cy="73152"/>
          </a:xfrm>
          <a:prstGeom prst="rect">
            <a:avLst/>
          </a:prstGeom>
          <a:solidFill>
            <a:srgbClr val="866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2271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8663AC"/>
                </a:solidFill>
                <a:latin typeface="Microsoft YaHei"/>
              </a:defRPr>
            </a:pPr>
            <a:r>
              <a:t>联合条件生成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2271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用动作先验补全稀疏观测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用文本选择目标动作内容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目标是联合条件下的合理全身动作；未观测手脚不自动等同于真实测量。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应用：创作场景清晰，医院合作需具体落点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头部可穿戴输入的低负担优势，与基金方向保持一致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541775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7C78"/>
                </a:solidFill>
                <a:latin typeface="Microsoft YaHei"/>
              </a:defRPr>
            </a:pPr>
            <a:r>
              <a:t>影视／游戏创作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局部表演＋语言指定动作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虚拟角色动作草稿与迭代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当前较直接的应用定位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8160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8160" y="1417320"/>
            <a:ext cx="3541775" cy="73152"/>
          </a:xfrm>
          <a:prstGeom prst="rect">
            <a:avLst/>
          </a:prstGeom>
          <a:solidFill>
            <a:srgbClr val="397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40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977AD"/>
                </a:solidFill>
                <a:latin typeface="Microsoft YaHei"/>
              </a:defRPr>
            </a:pPr>
            <a:r>
              <a:t>与基金的研究关联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基金：智能耳机IMU与下肢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重建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关联：耳／头惯性、稀疏观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测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条件扩散与多维性能均衡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9391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9391" y="1417320"/>
            <a:ext cx="3541775" cy="73152"/>
          </a:xfrm>
          <a:prstGeom prst="rect">
            <a:avLst/>
          </a:prstGeom>
          <a:solidFill>
            <a:srgbClr val="866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2271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8663AC"/>
                </a:solidFill>
                <a:latin typeface="Microsoft YaHei"/>
              </a:defRPr>
            </a:pPr>
            <a:r>
              <a:t>当前边界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2271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本文仍是文本＋head动作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生成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未实现双耳校准／实时精准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重建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没有患者或临床有效性验证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头部主线首先服务明确研究问题，再讨论真实设备和医院数据验证。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当前进展：原型闭环已有，论文证据未齐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按 2026-10-10 最新实际仓库与产物汇报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541775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7C78"/>
                </a:solidFill>
                <a:latin typeface="Microsoft YaHei"/>
              </a:defRPr>
            </a:pPr>
            <a:r>
              <a:t>数据与实现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128 train＋32 val，13 个来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源数据集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同源动作／文本／虚拟 IMU 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配对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冻结 MDM＋可训练控制分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8160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8160" y="1417320"/>
            <a:ext cx="3541775" cy="73152"/>
          </a:xfrm>
          <a:prstGeom prst="rect">
            <a:avLst/>
          </a:prstGeom>
          <a:solidFill>
            <a:srgbClr val="397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40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977AD"/>
                </a:solidFill>
                <a:latin typeface="Microsoft YaHei"/>
              </a:defRPr>
            </a:pPr>
            <a:r>
              <a:t>完整开发实验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U 与简单基线：20／100 ep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och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统一文本引导的完整扩散生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成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head：4 方法各 32 来源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9391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9391" y="1417320"/>
            <a:ext cx="3541775" cy="73152"/>
          </a:xfrm>
          <a:prstGeom prst="rect">
            <a:avLst/>
          </a:prstGeom>
          <a:solidFill>
            <a:srgbClr val="866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2271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8663AC"/>
                </a:solidFill>
                <a:latin typeface="Microsoft YaHei"/>
              </a:defRPr>
            </a:pPr>
            <a:r>
              <a:t>研究取舍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2271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head 作为论文主线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局部辅助损失候选已跑完，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未采用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双腕负结果保留，不阻挡主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可运行 ≠ 全面有效；开发收益 ≠ 正式论文主结果。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当前方法：冻结动作先验，学习头部时序控制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原 U100；图示只画当前保留的方法，不包含未采用的辅助损失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1965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09344"/>
            <a:ext cx="1837943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977AD"/>
                </a:solidFill>
                <a:latin typeface="Microsoft YaHei"/>
              </a:defRPr>
            </a:pPr>
            <a:r>
              <a:t>文本描述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554480"/>
            <a:ext cx="16459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1609344"/>
            <a:ext cx="1517904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D46"/>
                </a:solidFill>
                <a:latin typeface="Microsoft YaHei"/>
              </a:defRPr>
            </a:pPr>
            <a:r>
              <a:t>冻结 CLIP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1865376"/>
            <a:ext cx="365760" cy="0"/>
          </a:xfrm>
          <a:prstGeom prst="line">
            <a:avLst/>
          </a:prstGeom>
          <a:ln w="20320">
            <a:solidFill>
              <a:srgbClr val="697A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1865376"/>
            <a:ext cx="640080" cy="0"/>
          </a:xfrm>
          <a:prstGeom prst="line">
            <a:avLst/>
          </a:prstGeom>
          <a:ln w="20320">
            <a:solidFill>
              <a:srgbClr val="697A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49240" y="1261872"/>
            <a:ext cx="3017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噪声 x_t ＋ 扩散时间步 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1664208"/>
            <a:ext cx="3547872" cy="1892807"/>
          </a:xfrm>
          <a:prstGeom prst="roundRect">
            <a:avLst/>
          </a:prstGeom>
          <a:solidFill>
            <a:srgbClr val="EDF2FA"/>
          </a:solidFill>
          <a:ln w="12700">
            <a:solidFill>
              <a:srgbClr val="17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8" y="1810512"/>
            <a:ext cx="3108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D46"/>
                </a:solidFill>
                <a:latin typeface="Microsoft YaHei"/>
              </a:defRPr>
            </a:pPr>
            <a:r>
              <a:t>冻结 MDM Transformer ×8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9824" y="2267712"/>
            <a:ext cx="30175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13832" y="2322576"/>
            <a:ext cx="2889503" cy="2285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72D46"/>
                </a:solidFill>
                <a:latin typeface="Microsoft YaHei"/>
              </a:defRPr>
            </a:pPr>
            <a:r>
              <a:t>Transformer → ＋ A_l(C)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9824" y="2642616"/>
            <a:ext cx="30175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13832" y="2697480"/>
            <a:ext cx="2889503" cy="2285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72D46"/>
                </a:solidFill>
                <a:latin typeface="Microsoft YaHei"/>
              </a:defRPr>
            </a:pPr>
            <a:r>
              <a:t>Transformer → ＋ A_l(C)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9824" y="3017520"/>
            <a:ext cx="30175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13832" y="3072384"/>
            <a:ext cx="2889503" cy="2285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72D46"/>
                </a:solidFill>
                <a:latin typeface="Microsoft YaHei"/>
              </a:defRPr>
            </a:pPr>
            <a:r>
              <a:t>Transformer → ＋ A_l(C)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59952" y="2560320"/>
            <a:ext cx="411480" cy="0"/>
          </a:xfrm>
          <a:prstGeom prst="line">
            <a:avLst/>
          </a:prstGeom>
          <a:ln w="20320">
            <a:solidFill>
              <a:srgbClr val="697A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89720" y="1700784"/>
            <a:ext cx="2350008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1755648"/>
            <a:ext cx="2221991" cy="1664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预测 x0</a:t>
            </a:r>
          </a:p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DDPM 迭代 1000 步</a:t>
            </a:r>
          </a:p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20 Hz 全身动作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035808"/>
            <a:ext cx="19659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7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090672"/>
            <a:ext cx="183794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C7628"/>
                </a:solidFill>
                <a:latin typeface="Microsoft YaHei"/>
              </a:defRPr>
            </a:pPr>
            <a:r>
              <a:t>头部 IMU 观测</a:t>
            </a:r>
          </a:p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C7628"/>
                </a:solidFill>
                <a:latin typeface="Microsoft YaHei"/>
              </a:defRPr>
            </a:pPr>
            <a:r>
              <a:t>a(t) ＋ R(t)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160520"/>
            <a:ext cx="1965960" cy="795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7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215383"/>
            <a:ext cx="1837943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C7628"/>
                </a:solidFill>
                <a:latin typeface="Microsoft YaHei"/>
              </a:defRPr>
            </a:pPr>
            <a:r>
              <a:t>物理静态参照</a:t>
            </a:r>
          </a:p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C7628"/>
                </a:solidFill>
                <a:latin typeface="Microsoft YaHei"/>
              </a:defRPr>
            </a:pPr>
            <a:r>
              <a:t>a=0，R=首帧朝向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3035808"/>
            <a:ext cx="16459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90088" y="3090672"/>
            <a:ext cx="151790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E(I)</a:t>
            </a:r>
          </a:p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时序编码器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6080" y="4160520"/>
            <a:ext cx="1645920" cy="795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0088" y="4215383"/>
            <a:ext cx="1517904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E(I_ref)</a:t>
            </a:r>
          </a:p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时序编码器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24912" y="3803904"/>
            <a:ext cx="214884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87C78"/>
                </a:solidFill>
                <a:latin typeface="Microsoft YaHei"/>
              </a:defRPr>
            </a:pPr>
            <a:r>
              <a:t>共享权重 · 秒级时间编码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60320" y="3410712"/>
            <a:ext cx="365760" cy="0"/>
          </a:xfrm>
          <a:prstGeom prst="line">
            <a:avLst/>
          </a:prstGeom>
          <a:ln w="20320">
            <a:solidFill>
              <a:srgbClr val="BC76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560320" y="4553712"/>
            <a:ext cx="365760" cy="0"/>
          </a:xfrm>
          <a:prstGeom prst="line">
            <a:avLst/>
          </a:prstGeom>
          <a:ln w="20320">
            <a:solidFill>
              <a:srgbClr val="BC76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572000" y="3410712"/>
            <a:ext cx="502920" cy="301751"/>
          </a:xfrm>
          <a:prstGeom prst="line">
            <a:avLst/>
          </a:prstGeom>
          <a:ln w="20320">
            <a:solidFill>
              <a:srgbClr val="187C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572000" y="4251960"/>
            <a:ext cx="502920" cy="301752"/>
          </a:xfrm>
          <a:prstGeom prst="line">
            <a:avLst/>
          </a:prstGeom>
          <a:ln w="20320">
            <a:solidFill>
              <a:srgbClr val="187C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093208" y="3639312"/>
            <a:ext cx="62179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57216" y="3694176"/>
            <a:ext cx="493776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53328" y="3703320"/>
            <a:ext cx="1901952" cy="630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17336" y="3758183"/>
            <a:ext cx="1773936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C = 编码差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715000" y="4005072"/>
            <a:ext cx="338328" cy="0"/>
          </a:xfrm>
          <a:prstGeom prst="line">
            <a:avLst/>
          </a:prstGeom>
          <a:ln w="20320">
            <a:solidFill>
              <a:srgbClr val="187C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031736" y="3566160"/>
            <a:ext cx="0" cy="137160"/>
          </a:xfrm>
          <a:prstGeom prst="line">
            <a:avLst/>
          </a:prstGeom>
          <a:ln w="20320">
            <a:solidFill>
              <a:srgbClr val="187C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998464" y="4480560"/>
            <a:ext cx="2944368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7C78"/>
                </a:solidFill>
                <a:latin typeface="Microsoft YaHei"/>
              </a:defRPr>
            </a:pPr>
            <a:r>
              <a:t>逐层线性残差适配器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7C78"/>
                </a:solidFill>
                <a:latin typeface="Microsoft YaHei"/>
              </a:defRPr>
            </a:pPr>
            <a:r>
              <a:t>权重零初始化，bias固定0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89720" y="4206240"/>
            <a:ext cx="235000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87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53728" y="4261103"/>
            <a:ext cx="2221991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B8794"/>
                </a:solidFill>
                <a:latin typeface="Microsoft YaHei"/>
              </a:defRPr>
            </a:pPr>
            <a:r>
              <a:t>GT 动作（仅训练）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87968" y="4919472"/>
            <a:ext cx="26517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97A8C"/>
                </a:solidFill>
                <a:latin typeface="Microsoft YaHei"/>
              </a:defRPr>
            </a:pPr>
            <a:r>
              <a:t>标准化 x0 MSE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332720" y="4773168"/>
            <a:ext cx="0" cy="164592"/>
          </a:xfrm>
          <a:prstGeom prst="line">
            <a:avLst/>
          </a:prstGeom>
          <a:ln w="20320">
            <a:solidFill>
              <a:srgbClr val="7B879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329416" y="3456432"/>
            <a:ext cx="0" cy="1655064"/>
          </a:xfrm>
          <a:prstGeom prst="line">
            <a:avLst/>
          </a:prstGeom>
          <a:ln w="20320">
            <a:solidFill>
              <a:srgbClr val="187C78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1091672" y="5111496"/>
            <a:ext cx="237744" cy="0"/>
          </a:xfrm>
          <a:prstGeom prst="line">
            <a:avLst/>
          </a:prstGeom>
          <a:ln w="20320">
            <a:solidFill>
              <a:srgbClr val="187C78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522208" y="5394960"/>
            <a:ext cx="315468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7A8C"/>
                </a:solidFill>
                <a:latin typeface="Microsoft YaHei"/>
              </a:defRPr>
            </a:pPr>
            <a:r>
              <a:t>GT不进入IMU／推理输入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训练 IMU 编码器与 8 个逐层适配器；MDM 和 CLIP 冻结。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控制表示：共享编码后的静态参照差分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C = E(I) − E(I_ref)，不是 E(I − I_ref)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541775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7C78"/>
                </a:solidFill>
                <a:latin typeface="Microsoft YaHei"/>
              </a:defRPr>
            </a:pPr>
            <a:r>
              <a:t>观测信号 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头部 a(t)：3 维世界线性加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速度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R(t)：9 维全局朝向矩阵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共同 20 Hz 与真实片段长度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8160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8160" y="1417320"/>
            <a:ext cx="3541775" cy="73152"/>
          </a:xfrm>
          <a:prstGeom prst="rect">
            <a:avLst/>
          </a:prstGeom>
          <a:solidFill>
            <a:srgbClr val="397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40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977AD"/>
                </a:solidFill>
                <a:latin typeface="Microsoft YaHei"/>
              </a:defRPr>
            </a:pPr>
            <a:r>
              <a:t>物理静态参照 I_ref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物理加速度 = 0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朝向 = 首帧朝向，随时间保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持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使用同一归一化；不是数值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零输入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9391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9391" y="1417320"/>
            <a:ext cx="3541775" cy="73152"/>
          </a:xfrm>
          <a:prstGeom prst="rect">
            <a:avLst/>
          </a:prstGeom>
          <a:solidFill>
            <a:srgbClr val="866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2271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8663AC"/>
                </a:solidFill>
                <a:latin typeface="Microsoft YaHei"/>
              </a:defRPr>
            </a:pPr>
            <a:r>
              <a:t>共享时序编码器 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2271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2 层 Transformer，512 维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／8 头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以秒为单位的正弦时间编码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取编码差，再逐层残差注入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设计意图是表示相对参照的变化；实际贡献仍待同预算训练消融。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训练与推理：当前真正使用的配置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主表用原 U100；当前 checkpoint 仍是 head＋wrists 联合训练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541775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7C78"/>
                </a:solidFill>
                <a:latin typeface="Microsoft YaHei"/>
              </a:defRPr>
            </a:pPr>
            <a:r>
              <a:t>训练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128 来源 × 2 配置 × 100 e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poch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25,600 曝光／1,600 update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s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每次累积 16 个真实长度图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AdamW，lr 5e−5；原 x0 M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8160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8160" y="1417320"/>
            <a:ext cx="3541775" cy="73152"/>
          </a:xfrm>
          <a:prstGeom prst="rect">
            <a:avLst/>
          </a:prstGeom>
          <a:solidFill>
            <a:srgbClr val="397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40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977AD"/>
                </a:solidFill>
                <a:latin typeface="Microsoft YaHei"/>
              </a:defRPr>
            </a:pPr>
            <a:r>
              <a:t>条件与参数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冻结 MDM 与 CLIP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训练 IMU 编码器＋零初始化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适配器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text／IMU 各独立 10% dro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pout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IMU 缺失时严格关闭残差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9391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9391" y="1417320"/>
            <a:ext cx="3541775" cy="73152"/>
          </a:xfrm>
          <a:prstGeom prst="rect">
            <a:avLst/>
          </a:prstGeom>
          <a:solidFill>
            <a:srgbClr val="866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2271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8663AC"/>
                </a:solidFill>
                <a:latin typeface="Microsoft YaHei"/>
              </a:defRPr>
            </a:pPr>
            <a:r>
              <a:t>推理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2271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完整 1,000 步 DDPM，20 H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z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text CFG = 2.5，IMU／joint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 = 1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相同来源使用相同寻址噪声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K=1；单训练种子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论文重点评 head，但还不是一个专门 head-only 重训的模型。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数据桥：AMASS 动作与 HumanML3D 文本配对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同一 SMPL 源动作构建目标动作与虚拟 IMU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20574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386584"/>
            <a:ext cx="1929384" cy="932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D46"/>
                </a:solidFill>
                <a:latin typeface="Microsoft YaHei"/>
              </a:defRPr>
            </a:pPr>
            <a:r>
              <a:t>AMASS 源动作</a:t>
            </a:r>
          </a:p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D46"/>
                </a:solidFill>
                <a:latin typeface="Microsoft YaHei"/>
              </a:defRPr>
            </a:pPr>
            <a:r>
              <a:t>＋HumanML 文本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2331720"/>
            <a:ext cx="20574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2386584"/>
            <a:ext cx="1929384" cy="932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D46"/>
                </a:solidFill>
                <a:latin typeface="Microsoft YaHei"/>
              </a:defRPr>
            </a:pPr>
            <a:r>
              <a:t>SMPL FK</a:t>
            </a:r>
          </a:p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D46"/>
                </a:solidFill>
                <a:latin typeface="Microsoft YaHei"/>
              </a:defRPr>
            </a:pPr>
            <a:r>
              <a:t>同源坐标映射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97480" y="2852928"/>
            <a:ext cx="365760" cy="0"/>
          </a:xfrm>
          <a:prstGeom prst="line">
            <a:avLst/>
          </a:prstGeom>
          <a:ln w="20320">
            <a:solidFill>
              <a:srgbClr val="697A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22976" y="1719072"/>
            <a:ext cx="235915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86984" y="1773936"/>
            <a:ext cx="2231136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977AD"/>
                </a:solidFill>
                <a:latin typeface="Microsoft YaHei"/>
              </a:defRPr>
            </a:pPr>
            <a:r>
              <a:t>目标动作</a:t>
            </a:r>
          </a:p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977AD"/>
                </a:solidFill>
                <a:latin typeface="Microsoft YaHei"/>
              </a:defRPr>
            </a:pPr>
            <a:r>
              <a:t>HumanML263／22关</a:t>
            </a:r>
          </a:p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977AD"/>
                </a:solidFill>
                <a:latin typeface="Microsoft YaHei"/>
              </a:defRPr>
            </a:pPr>
            <a:r>
              <a:t>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22976" y="3264408"/>
            <a:ext cx="235915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7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6984" y="3319272"/>
            <a:ext cx="2231136" cy="9875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C7628"/>
                </a:solidFill>
                <a:latin typeface="Microsoft YaHei"/>
              </a:defRPr>
            </a:pPr>
            <a:r>
              <a:t>虚拟头部 IMU</a:t>
            </a:r>
          </a:p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C7628"/>
                </a:solidFill>
                <a:latin typeface="Microsoft YaHei"/>
              </a:defRPr>
            </a:pPr>
            <a:r>
              <a:t>顶点加速度／segmen</a:t>
            </a:r>
          </a:p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C7628"/>
                </a:solidFill>
                <a:latin typeface="Microsoft YaHei"/>
              </a:defRPr>
            </a:pPr>
            <a:r>
              <a:t>t朝向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5120640" y="2249424"/>
            <a:ext cx="402336" cy="585216"/>
          </a:xfrm>
          <a:prstGeom prst="line">
            <a:avLst/>
          </a:prstGeom>
          <a:ln w="20320">
            <a:solidFill>
              <a:srgbClr val="3977A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20640" y="2834640"/>
            <a:ext cx="402336" cy="923544"/>
          </a:xfrm>
          <a:prstGeom prst="line">
            <a:avLst/>
          </a:prstGeom>
          <a:ln w="20320">
            <a:solidFill>
              <a:srgbClr val="BC76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3264408"/>
            <a:ext cx="2798064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7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3319272"/>
            <a:ext cx="2670048" cy="9875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C7628"/>
                </a:solidFill>
                <a:latin typeface="Microsoft YaHei"/>
              </a:defRPr>
            </a:pPr>
            <a:r>
              <a:t>统一20Hz真实时间</a:t>
            </a:r>
          </a:p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C7628"/>
                </a:solidFill>
                <a:latin typeface="Microsoft YaHei"/>
              </a:defRPr>
            </a:pPr>
            <a:r>
              <a:t>加速度线性／朝向SLERP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7" y="3803904"/>
            <a:ext cx="420625" cy="0"/>
          </a:xfrm>
          <a:prstGeom prst="line">
            <a:avLst/>
          </a:prstGeom>
          <a:ln w="20320">
            <a:solidFill>
              <a:srgbClr val="BC76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302752" y="1719072"/>
            <a:ext cx="2798064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773936"/>
            <a:ext cx="2670048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配对训练与评价</a:t>
            </a:r>
          </a:p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按来源隔离 train／val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82127" y="2221992"/>
            <a:ext cx="420625" cy="0"/>
          </a:xfrm>
          <a:prstGeom prst="line">
            <a:avLst/>
          </a:prstGeom>
          <a:ln w="20320">
            <a:solidFill>
              <a:srgbClr val="3977A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701784" y="2734056"/>
            <a:ext cx="0" cy="530352"/>
          </a:xfrm>
          <a:prstGeom prst="line">
            <a:avLst/>
          </a:prstGeom>
          <a:ln w="20320">
            <a:solidFill>
              <a:srgbClr val="187C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60120" y="4828032"/>
            <a:ext cx="10515600" cy="8321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697A8C"/>
                </a:solidFill>
                <a:latin typeface="Microsoft YaHei"/>
              </a:defRPr>
            </a:pPr>
            <a:r>
              <a:t>加速度：世界线性加速度（不加重力）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697A8C"/>
                </a:solidFill>
                <a:latin typeface="Microsoft YaHei"/>
              </a:defRPr>
            </a:pPr>
            <a:r>
              <a:t>朝向：segment → world；缓存30Hz → 模型20Hz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697A8C"/>
                </a:solidFill>
                <a:latin typeface="Microsoft YaHei"/>
              </a:defRPr>
            </a:pPr>
            <a:r>
              <a:t>离线canonical映射与真实设备在线定标是两件事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当前是离线合成配对；坐标映射正确不等于真实设备校准已解决。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实验数据：规模、划分与可推广边界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小规模代表性开发集，尚不是正式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541775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7C78"/>
                </a:solidFill>
                <a:latin typeface="Microsoft YaHei"/>
              </a:defRPr>
            </a:pPr>
            <a:r>
              <a:t>规模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160 个来源：128 train＋32 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val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13 个 AMASS 数据集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40–196 帧，名义约 2–9.8 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8160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8160" y="1417320"/>
            <a:ext cx="3541775" cy="73152"/>
          </a:xfrm>
          <a:prstGeom prst="rect">
            <a:avLst/>
          </a:prstGeom>
          <a:solidFill>
            <a:srgbClr val="397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40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977AD"/>
                </a:solidFill>
                <a:latin typeface="Microsoft YaHei"/>
              </a:defRPr>
            </a:pPr>
            <a:r>
              <a:t>来源与规范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按原 AMASS 文件隔离 train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／val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BMLmovi 73、CMU 45，共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占 73.8%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加速度统计只用 14,876 唯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一 train 帧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所有比较按完整片段等权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9391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9391" y="1417320"/>
            <a:ext cx="3541775" cy="73152"/>
          </a:xfrm>
          <a:prstGeom prst="rect">
            <a:avLst/>
          </a:prstGeom>
          <a:solidFill>
            <a:srgbClr val="866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2271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8663AC"/>
                </a:solidFill>
                <a:latin typeface="Microsoft YaHei"/>
              </a:defRPr>
            </a:pPr>
            <a:r>
              <a:t>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2271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不是跨被试／跨数据集正式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测试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新154条文本未人工全审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MDM 有外部 HumanML 预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训练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不能宣称所有动作都预训练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未见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当前唯一训练帧量约 12.4 分钟：数据规模和覆盖仍需扩大。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对比模型：已完成与待完成明确区分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同一 head 输入与目标定义；不把自建 IMU-only 冒充官方 IMUPoser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63040"/>
            <a:ext cx="2194559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536192"/>
            <a:ext cx="1975103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1487" y="1463040"/>
            <a:ext cx="2377439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71215" y="1536192"/>
            <a:ext cx="2157983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当前状态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38927" y="1463040"/>
            <a:ext cx="2011679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48655" y="1536192"/>
            <a:ext cx="1792223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50607" y="1463040"/>
            <a:ext cx="4480559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0335" y="1536192"/>
            <a:ext cx="4261103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主要用途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231136"/>
            <a:ext cx="219455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295144"/>
            <a:ext cx="197510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MDM 文本基座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1487" y="2231136"/>
            <a:ext cx="237743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71215" y="2295144"/>
            <a:ext cx="215798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32val已完成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38927" y="2231136"/>
            <a:ext cx="20116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48655" y="2295144"/>
            <a:ext cx="179222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文本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50607" y="2231136"/>
            <a:ext cx="448055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5" y="2295144"/>
            <a:ext cx="426110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量化IMU条件增量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825496"/>
            <a:ext cx="219455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2889503"/>
            <a:ext cx="197510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简单时序融合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61487" y="2825496"/>
            <a:ext cx="237743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71215" y="2889503"/>
            <a:ext cx="215798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100epoch／32val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38927" y="2825496"/>
            <a:ext cx="20116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48655" y="2889503"/>
            <a:ext cx="179222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文本＋head IMU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50607" y="2825496"/>
            <a:ext cx="448055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0335" y="2889503"/>
            <a:ext cx="426110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检验复杂控制是否必要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419856"/>
            <a:ext cx="219455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3483864"/>
            <a:ext cx="197510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简单IMU-only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61487" y="3419856"/>
            <a:ext cx="237743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71215" y="3483864"/>
            <a:ext cx="215798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100epoch／32val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38927" y="3419856"/>
            <a:ext cx="20116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48655" y="3483864"/>
            <a:ext cx="179222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head IMU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50607" y="3419856"/>
            <a:ext cx="448055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0335" y="3483864"/>
            <a:ext cx="426110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重建代理；不是官方模型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014216"/>
            <a:ext cx="219455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" y="4078224"/>
            <a:ext cx="197510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官方IMUPoser 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61487" y="4014216"/>
            <a:ext cx="237743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71215" y="4078224"/>
            <a:ext cx="215798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待适配、训练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38927" y="4014216"/>
            <a:ext cx="20116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48655" y="4078224"/>
            <a:ext cx="179222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head IMU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50607" y="4014216"/>
            <a:ext cx="448055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60335" y="4078224"/>
            <a:ext cx="426110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主要重建强基线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608576"/>
            <a:ext cx="219455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" y="4672584"/>
            <a:ext cx="197510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Ego4o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61487" y="4608576"/>
            <a:ext cx="237743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71215" y="4672584"/>
            <a:ext cx="215798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待资产与接口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38927" y="4608576"/>
            <a:ext cx="20116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48655" y="4672584"/>
            <a:ext cx="179222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按公开分支核查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50607" y="4608576"/>
            <a:ext cx="448055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0335" y="4672584"/>
            <a:ext cx="426110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后续多模态生成／重建对照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5202936"/>
            <a:ext cx="219455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6656" y="5266944"/>
            <a:ext cx="197510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84C"/>
                </a:solidFill>
                <a:latin typeface="Microsoft YaHei"/>
              </a:defRPr>
            </a:pPr>
            <a:r>
              <a:t>HY-Motion／MotionLab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61487" y="5202936"/>
            <a:ext cx="237743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71215" y="5266944"/>
            <a:ext cx="215798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历史探索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38927" y="5202936"/>
            <a:ext cx="20116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48655" y="5266944"/>
            <a:ext cx="179222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协议不同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50607" y="5202936"/>
            <a:ext cx="448055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60335" y="5266944"/>
            <a:ext cx="426110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不混入当前共同主表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最低矩阵先补官方 head 重建基线；外部资产缺口不阻挡可运行主线。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评价：头部控制、全身质量、文本语义三条线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头部指标只去根平移；世界朝向保留，不做空间／时间拟合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541775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7C78"/>
                </a:solidFill>
                <a:latin typeface="Microsoft YaHei"/>
              </a:defRPr>
            </a:pPr>
            <a:r>
              <a:t>主要控制指标：已算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头部相对骨盆位置误差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头部相对骨盆速度 RMSE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输入是a/R，这些仍是关节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代理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8160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8160" y="1417320"/>
            <a:ext cx="3541775" cy="73152"/>
          </a:xfrm>
          <a:prstGeom prst="rect">
            <a:avLst/>
          </a:prstGeom>
          <a:solidFill>
            <a:srgbClr val="397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40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977AD"/>
                </a:solidFill>
                <a:latin typeface="Microsoft YaHei"/>
              </a:defRPr>
            </a:pPr>
            <a:r>
              <a:t>全身与质量：已算／部分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全身 root-relative MPJPE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global MPJPE／root-path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局部与全身 jerk、运动幅度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接触／行为尚未完整认证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9391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9391" y="1417320"/>
            <a:ext cx="3541775" cy="73152"/>
          </a:xfrm>
          <a:prstGeom prst="rect">
            <a:avLst/>
          </a:prstGeom>
          <a:solidFill>
            <a:srgbClr val="866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2271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8663AC"/>
                </a:solidFill>
                <a:latin typeface="Microsoft YaHei"/>
              </a:defRPr>
            </a:pPr>
            <a:r>
              <a:t>语义与泛化：待补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2271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共同 HumanML 评测器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文本匹配／R-precision／FI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D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条件贡献与相容文本编辑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正式 test、多种子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头部误差低，不代表手脚动作、文本顺序或自然性已经正确。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当前主表：四方法 × 同32个 head 验证来源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开发 val · 单种子／K=1 · text CFG 2.5匹配 · 完整片段等权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63040"/>
            <a:ext cx="2834639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536192"/>
            <a:ext cx="2615183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方法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1568" y="1463040"/>
            <a:ext cx="1554479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1296" y="1536192"/>
            <a:ext cx="1335023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头部位置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cm 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56048" y="1463040"/>
            <a:ext cx="1645919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65776" y="1536192"/>
            <a:ext cx="1426463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头部速度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m/s 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01968" y="1463040"/>
            <a:ext cx="1645919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11696" y="1536192"/>
            <a:ext cx="1426463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全身相对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cm 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47888" y="1463040"/>
            <a:ext cx="1371599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5" y="1536192"/>
            <a:ext cx="1152143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global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m 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19488" y="1463040"/>
            <a:ext cx="2011679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9215" y="1536192"/>
            <a:ext cx="1792223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头部jerk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m/s³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31136"/>
            <a:ext cx="283463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2295144"/>
            <a:ext cx="261518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MDM 仅文本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01568" y="2231136"/>
            <a:ext cx="15544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11296" y="2295144"/>
            <a:ext cx="133502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16.35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56048" y="2231136"/>
            <a:ext cx="164591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5776" y="2295144"/>
            <a:ext cx="142646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0.414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01968" y="2231136"/>
            <a:ext cx="164591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11696" y="2295144"/>
            <a:ext cx="142646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17.49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47888" y="2231136"/>
            <a:ext cx="137159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7615" y="2295144"/>
            <a:ext cx="115214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0.914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19488" y="2231136"/>
            <a:ext cx="20116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9215" y="2295144"/>
            <a:ext cx="179222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44.25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2825496"/>
            <a:ext cx="2834639" cy="594360"/>
          </a:xfrm>
          <a:prstGeom prst="rect">
            <a:avLst/>
          </a:prstGeom>
          <a:solidFill>
            <a:srgbClr val="E5F2E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2889503"/>
            <a:ext cx="261518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U100 文本＋IMU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01568" y="2825496"/>
            <a:ext cx="1554479" cy="594360"/>
          </a:xfrm>
          <a:prstGeom prst="rect">
            <a:avLst/>
          </a:prstGeom>
          <a:solidFill>
            <a:srgbClr val="E5F2E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11296" y="2889503"/>
            <a:ext cx="133502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13.24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56048" y="2825496"/>
            <a:ext cx="1645919" cy="594360"/>
          </a:xfrm>
          <a:prstGeom prst="rect">
            <a:avLst/>
          </a:prstGeom>
          <a:solidFill>
            <a:srgbClr val="E5F2E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65776" y="2889503"/>
            <a:ext cx="142646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0.368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01968" y="2825496"/>
            <a:ext cx="1645919" cy="594360"/>
          </a:xfrm>
          <a:prstGeom prst="rect">
            <a:avLst/>
          </a:prstGeom>
          <a:solidFill>
            <a:srgbClr val="E5F2E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11696" y="2889503"/>
            <a:ext cx="142646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15.28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47888" y="2825496"/>
            <a:ext cx="1371599" cy="594360"/>
          </a:xfrm>
          <a:prstGeom prst="rect">
            <a:avLst/>
          </a:prstGeom>
          <a:solidFill>
            <a:srgbClr val="E5F2E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57615" y="2889503"/>
            <a:ext cx="115214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0.788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19488" y="2825496"/>
            <a:ext cx="2011679" cy="594360"/>
          </a:xfrm>
          <a:prstGeom prst="rect">
            <a:avLst/>
          </a:prstGeom>
          <a:solidFill>
            <a:srgbClr val="E5F2E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9215" y="2889503"/>
            <a:ext cx="179222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76.68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3419856"/>
            <a:ext cx="283463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" y="3483864"/>
            <a:ext cx="261518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简单文本＋IMU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01568" y="3419856"/>
            <a:ext cx="15544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11296" y="3483864"/>
            <a:ext cx="133502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13.03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56048" y="3419856"/>
            <a:ext cx="164591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65776" y="3483864"/>
            <a:ext cx="142646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0.375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01968" y="3419856"/>
            <a:ext cx="164591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11696" y="3483864"/>
            <a:ext cx="142646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14.74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47888" y="3419856"/>
            <a:ext cx="137159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57615" y="3483864"/>
            <a:ext cx="115214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0.986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19488" y="3419856"/>
            <a:ext cx="20116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29215" y="3483864"/>
            <a:ext cx="179222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118.73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4014216"/>
            <a:ext cx="283463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6656" y="4078224"/>
            <a:ext cx="261518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简单 IMU-only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01568" y="4014216"/>
            <a:ext cx="15544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11296" y="4078224"/>
            <a:ext cx="133502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9.88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56048" y="4014216"/>
            <a:ext cx="164591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65776" y="4078224"/>
            <a:ext cx="142646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0.398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01968" y="4014216"/>
            <a:ext cx="164591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11696" y="4078224"/>
            <a:ext cx="142646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13.31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47888" y="4014216"/>
            <a:ext cx="137159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57615" y="4078224"/>
            <a:ext cx="115214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0.972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19488" y="4014216"/>
            <a:ext cx="20116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29215" y="4078224"/>
            <a:ext cx="179222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140.80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U 对 MDM 多项误差下降；相对简单基线仍有明确代价。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收益与代价：不能只选最有利的一列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左：同32来源的主要误差；右：相对 MDM 的变化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13</a:t>
            </a:r>
          </a:p>
        </p:txBody>
      </p:sp>
      <p:pic>
        <p:nvPicPr>
          <p:cNvPr id="7" name="Picture 6" descr="head3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462" y="1371600"/>
            <a:ext cx="5730875" cy="4343400"/>
          </a:xfrm>
          <a:prstGeom prst="rect">
            <a:avLst/>
          </a:prstGeom>
        </p:spPr>
      </p:pic>
      <p:pic>
        <p:nvPicPr>
          <p:cNvPr id="8" name="Picture 7" descr="head32_tradeoff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188" y="1371600"/>
            <a:ext cx="4343400" cy="4343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对 MDM：头部位置 −19.0%、速度 −10.9%；头部 jerk 却 +73.3%。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可视化：看全身动作，不只看头部数值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固定历史验证例 000382：拍手后放下手臂 · head 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14</a:t>
            </a:r>
          </a:p>
        </p:txBody>
      </p:sp>
      <p:pic>
        <p:nvPicPr>
          <p:cNvPr id="7" name="val_00038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14856" y="1325880"/>
            <a:ext cx="9168383" cy="4297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完整片段与另两个固定验证例可离线播放；不依赖 uvicorn。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失败与熟悉例子：它们不能替代泛化证据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固定训练来源 000506：交替弓步；旧U/F与当前U100分别标记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15</a:t>
            </a:r>
          </a:p>
        </p:txBody>
      </p:sp>
      <p:pic>
        <p:nvPicPr>
          <p:cNvPr id="7" name="train_00050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14856" y="1325880"/>
            <a:ext cx="9168383" cy="4297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弓步仍未认证修复；旧出拳／后举的较好观感只是非盲训练例反馈。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已完成一次候选取舍：局部辅助损失不采用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同初始化／100epoch；新增 head位置＋速度监督；仅同8val对照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63040"/>
            <a:ext cx="2468880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536192"/>
            <a:ext cx="2249424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同8val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035808" y="1463040"/>
            <a:ext cx="1737360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45536" y="1536192"/>
            <a:ext cx="1517904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头部位置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cm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73168" y="1463040"/>
            <a:ext cx="1737360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82896" y="1536192"/>
            <a:ext cx="1517904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头部速度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m/s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10528" y="1463040"/>
            <a:ext cx="1554480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6" y="1536192"/>
            <a:ext cx="1335024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global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5008" y="1463040"/>
            <a:ext cx="1737360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536192"/>
            <a:ext cx="1517904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全身相对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cm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02368" y="1463040"/>
            <a:ext cx="1828800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12096" y="1536192"/>
            <a:ext cx="1609344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头部jerk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m/s³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31136"/>
            <a:ext cx="2468880" cy="594360"/>
          </a:xfrm>
          <a:prstGeom prst="rect">
            <a:avLst/>
          </a:prstGeom>
          <a:solidFill>
            <a:srgbClr val="E5F2E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2295144"/>
            <a:ext cx="224942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原U100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35808" y="2231136"/>
            <a:ext cx="1737360" cy="594360"/>
          </a:xfrm>
          <a:prstGeom prst="rect">
            <a:avLst/>
          </a:prstGeom>
          <a:solidFill>
            <a:srgbClr val="E5F2E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45536" y="2295144"/>
            <a:ext cx="151790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10.787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73168" y="2231136"/>
            <a:ext cx="1737360" cy="594360"/>
          </a:xfrm>
          <a:prstGeom prst="rect">
            <a:avLst/>
          </a:prstGeom>
          <a:solidFill>
            <a:srgbClr val="E5F2E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82896" y="2295144"/>
            <a:ext cx="151790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0.293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10528" y="2231136"/>
            <a:ext cx="1554480" cy="594360"/>
          </a:xfrm>
          <a:prstGeom prst="rect">
            <a:avLst/>
          </a:prstGeom>
          <a:solidFill>
            <a:srgbClr val="E5F2E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0256" y="2295144"/>
            <a:ext cx="133502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0.521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65008" y="2231136"/>
            <a:ext cx="1737360" cy="594360"/>
          </a:xfrm>
          <a:prstGeom prst="rect">
            <a:avLst/>
          </a:prstGeom>
          <a:solidFill>
            <a:srgbClr val="E5F2E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2295144"/>
            <a:ext cx="151790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15.002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02368" y="2231136"/>
            <a:ext cx="1828800" cy="594360"/>
          </a:xfrm>
          <a:prstGeom prst="rect">
            <a:avLst/>
          </a:prstGeom>
          <a:solidFill>
            <a:srgbClr val="E5F2E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12096" y="2295144"/>
            <a:ext cx="160934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38.422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2825496"/>
            <a:ext cx="2468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2889503"/>
            <a:ext cx="224942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局部监督候选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35808" y="2825496"/>
            <a:ext cx="1737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45536" y="2889503"/>
            <a:ext cx="151790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10.226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73168" y="2825496"/>
            <a:ext cx="1737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82896" y="2889503"/>
            <a:ext cx="151790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0.298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10528" y="2825496"/>
            <a:ext cx="1554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0256" y="2889503"/>
            <a:ext cx="133502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0.687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65008" y="2825496"/>
            <a:ext cx="1737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74736" y="2889503"/>
            <a:ext cx="151790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15.449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02368" y="2825496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12096" y="2889503"/>
            <a:ext cx="160934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37.768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3419856"/>
            <a:ext cx="2468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" y="3483864"/>
            <a:ext cx="224942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相对原U变化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35808" y="3419856"/>
            <a:ext cx="1737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45536" y="3483864"/>
            <a:ext cx="151790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-5.2%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73168" y="3419856"/>
            <a:ext cx="1737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82896" y="3483864"/>
            <a:ext cx="151790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+1.8%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10528" y="3419856"/>
            <a:ext cx="1554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0256" y="3483864"/>
            <a:ext cx="133502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+31.9%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65008" y="3419856"/>
            <a:ext cx="1737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74736" y="3483864"/>
            <a:ext cx="151790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+3.0%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02368" y="3419856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12096" y="3483864"/>
            <a:ext cx="160934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-1.7%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位置 −5.2%，速度略差、global +31.9%；不继续扫系数。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离论文闭环还缺什么？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已完成工程与开发对照；下一步以可审阅交付为单位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63040"/>
            <a:ext cx="2743199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536192"/>
            <a:ext cx="2523744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交付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7" y="1463040"/>
            <a:ext cx="3108959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9856" y="1536192"/>
            <a:ext cx="2889503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19088" y="1463040"/>
            <a:ext cx="5212079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536192"/>
            <a:ext cx="4992623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还缺什么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231136"/>
            <a:ext cx="274319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295144"/>
            <a:ext cx="2523744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基本任务／完整生成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0127" y="2231136"/>
            <a:ext cx="310895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9856" y="2295144"/>
            <a:ext cx="2889503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工程闭环已完成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19088" y="2231136"/>
            <a:ext cx="521207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2295144"/>
            <a:ext cx="4992623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行为与真实设备有效性仍待验证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779776"/>
            <a:ext cx="274319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2843784"/>
            <a:ext cx="2523744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最低开发对照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0127" y="2779776"/>
            <a:ext cx="310895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9856" y="2843784"/>
            <a:ext cx="2889503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4方法×32head来源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9088" y="2779776"/>
            <a:ext cx="521207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28816" y="2843784"/>
            <a:ext cx="4992623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官方IMUPoser／共同语义指标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328415"/>
            <a:ext cx="274319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3392423"/>
            <a:ext cx="2523744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头部辅助损失候选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0127" y="3328415"/>
            <a:ext cx="310895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9856" y="3392423"/>
            <a:ext cx="2889503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完整比较；未采用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9088" y="3328415"/>
            <a:ext cx="521207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28816" y="3392423"/>
            <a:ext cx="4992623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不继续扫系数；保留负结果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877056"/>
            <a:ext cx="274319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3941064"/>
            <a:ext cx="2523744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核心结构消融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10127" y="3877056"/>
            <a:ext cx="310895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19856" y="3941064"/>
            <a:ext cx="2889503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尚未完成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19088" y="3877056"/>
            <a:ext cx="521207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28816" y="3941064"/>
            <a:ext cx="4992623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参照差分／时序设计同预算重训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425696"/>
            <a:ext cx="274319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" y="4489704"/>
            <a:ext cx="2523744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文本与IMU互补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10127" y="4425696"/>
            <a:ext cx="310895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19856" y="4489704"/>
            <a:ext cx="2889503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尚未充分量化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19088" y="4425696"/>
            <a:ext cx="521207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28816" y="4489704"/>
            <a:ext cx="4992623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去条件／文本编辑／共同语义评测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974336"/>
            <a:ext cx="274319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" y="5038344"/>
            <a:ext cx="2523744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正式测试／多种子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10127" y="4974336"/>
            <a:ext cx="310895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19856" y="5038344"/>
            <a:ext cx="2889503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尚未完成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19088" y="4974336"/>
            <a:ext cx="521207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28816" y="5038344"/>
            <a:ext cx="4992623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最终模型固定后，来源隔离test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5522975"/>
            <a:ext cx="274319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6656" y="5586983"/>
            <a:ext cx="2523744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26384C"/>
                </a:solidFill>
                <a:latin typeface="Microsoft YaHei"/>
              </a:defRPr>
            </a:pPr>
            <a:r>
              <a:t>论文Method／Experiments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10127" y="5522975"/>
            <a:ext cx="310895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19856" y="5586983"/>
            <a:ext cx="2889503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正文尚未更新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19088" y="5522975"/>
            <a:ext cx="521207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28816" y="5586983"/>
            <a:ext cx="4992623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先固定任务与实验，再冻结主张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优先：官方 head 基线 → 语义／条件贡献 → 核心消融 → 正式冻结。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复盘：工作不少，但论文交付推进偏慢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没有逐项工时统计，不给原因随意分配百分比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541775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7C78"/>
                </a:solidFill>
                <a:latin typeface="Microsoft YaHei"/>
              </a:defRPr>
            </a:pPr>
            <a:r>
              <a:t>路线扩张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head 与 wrists 同时追求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MDM／MotionLab／HY-Mo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tion探索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真实任务、表示和成功标准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未早收敛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8160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8160" y="1417320"/>
            <a:ext cx="3541775" cy="73152"/>
          </a:xfrm>
          <a:prstGeom prst="rect">
            <a:avLst/>
          </a:prstGeom>
          <a:solidFill>
            <a:srgbClr val="397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40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977AD"/>
                </a:solidFill>
                <a:latin typeface="Microsoft YaHei"/>
              </a:defRPr>
            </a:pPr>
            <a:r>
              <a:t>局部闭环过深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多轮弓步／损失／引导／根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轨迹诊断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正确性检查有必要，但缺停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止点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完整基线、语义和消融被推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9391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9391" y="1417320"/>
            <a:ext cx="3541775" cy="73152"/>
          </a:xfrm>
          <a:prstGeom prst="rect">
            <a:avLst/>
          </a:prstGeom>
          <a:solidFill>
            <a:srgbClr val="866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2271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8663AC"/>
                </a:solidFill>
                <a:latin typeface="Microsoft YaHei"/>
              </a:defRPr>
            </a:pPr>
            <a:r>
              <a:t>迁移与工程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2271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A40 → 4090 辗转与共享GP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U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环境、路径、模型／数据搬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迁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坐标／时钟／归一化问题需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重核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关键问题是范围与里程碑管理失衡，不只是缺 GPU 算力。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AI使用复盘：continue不能代替研究决策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研究者与AI都需要围绕论文目标设置检查点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541775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7C78"/>
                </a:solidFill>
                <a:latin typeface="Microsoft YaHei"/>
              </a:defRPr>
            </a:pPr>
            <a:r>
              <a:t>为什么跑偏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心急，希望AI连续推进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continue强化了已有局部诊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断链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AI容易优化能验收的技术细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8160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8160" y="1417320"/>
            <a:ext cx="3541775" cy="73152"/>
          </a:xfrm>
          <a:prstGeom prst="rect">
            <a:avLst/>
          </a:prstGeom>
          <a:solidFill>
            <a:srgbClr val="397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40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977AD"/>
                </a:solidFill>
                <a:latin typeface="Microsoft YaHei"/>
              </a:defRPr>
            </a:pPr>
            <a:r>
              <a:t>缺少的控制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这一轮为哪张论文表服务？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什么结果会让我们停止／换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路线？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基线和语义是否仍在同步推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进？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9391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9391" y="1417320"/>
            <a:ext cx="3541775" cy="73152"/>
          </a:xfrm>
          <a:prstGeom prst="rect">
            <a:avLst/>
          </a:prstGeom>
          <a:solidFill>
            <a:srgbClr val="866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2271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8663AC"/>
                </a:solidFill>
                <a:latin typeface="Microsoft YaHei"/>
              </a:defRPr>
            </a:pPr>
            <a:r>
              <a:t>新的工作方式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2271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一次任务＝一个完整可审阅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交付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新诊断先说明阻挡哪项主线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工作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每轮结束更新主线看板与取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允许有限正收益和小代价；严重代价修复／替换／删除，不追求每列完美。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现在的收敛：先完成head主线的论文证据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双腕、跨基座与临床外推不再作为当前论文的前置条件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541775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7C78"/>
                </a:solidFill>
                <a:latin typeface="Microsoft YaHei"/>
              </a:defRPr>
            </a:pPr>
            <a:r>
              <a:t>主线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文本＋单头部IMU→全身动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作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明确离线合成配对开发范围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先形成共同head对比与核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心消融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8160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8160" y="1417320"/>
            <a:ext cx="3541775" cy="73152"/>
          </a:xfrm>
          <a:prstGeom prst="rect">
            <a:avLst/>
          </a:prstGeom>
          <a:solidFill>
            <a:srgbClr val="397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40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977AD"/>
                </a:solidFill>
                <a:latin typeface="Microsoft YaHei"/>
              </a:defRPr>
            </a:pPr>
            <a:r>
              <a:t>扩展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双腕结果完整保留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跨基座与真实设备后续验证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不拼接多个候选各自最优的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9391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9391" y="1417320"/>
            <a:ext cx="3541775" cy="73152"/>
          </a:xfrm>
          <a:prstGeom prst="rect">
            <a:avLst/>
          </a:prstGeom>
          <a:solidFill>
            <a:srgbClr val="866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2271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8663AC"/>
                </a:solidFill>
                <a:latin typeface="Microsoft YaHei"/>
              </a:defRPr>
            </a:pPr>
            <a:r>
              <a:t>工程收尾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2271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Git已分阶段提交并合并到m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aster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源码／协议／负结果可追溯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大产物留本地，减少重复搬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迁与快照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先整体闭环，再抠细节；已有失败可转为研究取舍证据。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下一阶段：按交付推进，不再按诊断数量推进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建议顺序供导师讨论；具体时长受资产与适配风险影响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63040"/>
            <a:ext cx="1920239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536192"/>
            <a:ext cx="1700783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交付顺序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1463040"/>
            <a:ext cx="4846319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96896" y="1536192"/>
            <a:ext cx="4626863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具体工作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33488" y="1463040"/>
            <a:ext cx="4297679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43215" y="1536192"/>
            <a:ext cx="4078223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完成判据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231136"/>
            <a:ext cx="192023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295144"/>
            <a:ext cx="170078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1 官方head基线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2231136"/>
            <a:ext cx="484631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2295144"/>
            <a:ext cx="462686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6384C"/>
                </a:solidFill>
                <a:latin typeface="Microsoft YaHei"/>
              </a:defRPr>
            </a:pPr>
            <a:r>
              <a:t>修正12／60维接口；canonical旋转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6384C"/>
                </a:solidFill>
                <a:latin typeface="Microsoft YaHei"/>
              </a:defRPr>
            </a:pPr>
            <a:r>
              <a:t>20Hz与SMPL FK；一次完整训练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2231136"/>
            <a:ext cx="42976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3215" y="2295144"/>
            <a:ext cx="407822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有来源／权重／预测可核验的32val表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825496"/>
            <a:ext cx="192023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2889503"/>
            <a:ext cx="170078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2 联合条件证据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7168" y="2825496"/>
            <a:ext cx="484631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96896" y="2889503"/>
            <a:ext cx="462686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6384C"/>
                </a:solidFill>
                <a:latin typeface="Microsoft YaHei"/>
              </a:defRPr>
            </a:pPr>
            <a:r>
              <a:t>下载并绑定语义评测资产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6384C"/>
                </a:solidFill>
                <a:latin typeface="Microsoft YaHei"/>
              </a:defRPr>
            </a:pPr>
            <a:r>
              <a:t>共同GT／文本／长度检查，条件贡献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33488" y="2825496"/>
            <a:ext cx="42976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43215" y="2889503"/>
            <a:ext cx="407822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说明文本是否补充未观测部位语义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419856"/>
            <a:ext cx="192023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3483864"/>
            <a:ext cx="170078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6384C"/>
                </a:solidFill>
                <a:latin typeface="Microsoft YaHei"/>
              </a:defRPr>
            </a:pPr>
            <a:r>
              <a:t>3 核心消融与冻结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7168" y="3419856"/>
            <a:ext cx="484631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96896" y="3483864"/>
            <a:ext cx="462686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6384C"/>
                </a:solidFill>
                <a:latin typeface="Microsoft YaHei"/>
              </a:defRPr>
            </a:pPr>
            <a:r>
              <a:t>两项保留设计同预算重训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6384C"/>
                </a:solidFill>
                <a:latin typeface="Microsoft YaHei"/>
              </a:defRPr>
            </a:pPr>
            <a:r>
              <a:t>扩大数据，正式test与多种子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33488" y="3419856"/>
            <a:ext cx="42976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43215" y="3483864"/>
            <a:ext cx="4078223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同一最终模型＋公平主表＋负例保留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定稿条件：同一最终模型、最低强基线、语义证据、核心消融和正式测试。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请导师帮助确认三项关键选择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把研究问题与最小论文交付统一起来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541775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7C78"/>
                </a:solidFill>
                <a:latin typeface="Microsoft YaHei"/>
              </a:defRPr>
            </a:pPr>
            <a:r>
              <a:t>任务定位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是否固定为头部联合生成？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优先面向哪些应用？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生成补全还是忠实重建？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8160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8160" y="1417320"/>
            <a:ext cx="3541775" cy="73152"/>
          </a:xfrm>
          <a:prstGeom prst="rect">
            <a:avLst/>
          </a:prstGeom>
          <a:solidFill>
            <a:srgbClr val="397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40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977AD"/>
                </a:solidFill>
                <a:latin typeface="Microsoft YaHei"/>
              </a:defRPr>
            </a:pPr>
            <a:r>
              <a:t>论文贡献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哪种互补机制作为核心？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如何量化文本带来的增量？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最低必须比较哪些方法？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9391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9391" y="1417320"/>
            <a:ext cx="3541775" cy="73152"/>
          </a:xfrm>
          <a:prstGeom prst="rect">
            <a:avLst/>
          </a:prstGeom>
          <a:solidFill>
            <a:srgbClr val="866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2271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8663AC"/>
                </a:solidFill>
                <a:latin typeface="Microsoft YaHei"/>
              </a:defRPr>
            </a:pPr>
            <a:r>
              <a:t>推进范围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2271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暂时暂停双腕与跨基座？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接受小收益与有限代价？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怎样定义论文冻结条件？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当前希望确认方向与证据标准，而非仅讨论某个样例是否更好看。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附录 A：四分支联合条件引导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实现细节；主方法贡献仍需条件与结构消融验证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541775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7C78"/>
                </a:solidFill>
                <a:latin typeface="Microsoft YaHei"/>
              </a:defRPr>
            </a:pPr>
            <a:r>
              <a:t>分支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f00：无文本／无IMU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fT：只有文本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fI：只有IMU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fTI：文本＋IMU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8160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8160" y="1417320"/>
            <a:ext cx="3541775" cy="73152"/>
          </a:xfrm>
          <a:prstGeom prst="rect">
            <a:avLst/>
          </a:prstGeom>
          <a:solidFill>
            <a:srgbClr val="397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40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977AD"/>
                </a:solidFill>
                <a:latin typeface="Microsoft YaHei"/>
              </a:defRPr>
            </a:pPr>
            <a:r>
              <a:t>组合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f = f00 + sT(fT−f00)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+ sI(fI−f00)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+ sTI(fTI−fT−fI+f00)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当前 (sT,sI,sTI) = (2.5,1,1)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9391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9391" y="1417320"/>
            <a:ext cx="3541775" cy="73152"/>
          </a:xfrm>
          <a:prstGeom prst="rect">
            <a:avLst/>
          </a:prstGeom>
          <a:solidFill>
            <a:srgbClr val="866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2271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8663AC"/>
                </a:solidFill>
                <a:latin typeface="Microsoft YaHei"/>
              </a:defRPr>
            </a:pPr>
            <a:r>
              <a:t>公平比较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2271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MDM基线走原encoder严格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旁路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同来源使用同DDPM噪声地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址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推理去条件 ≠ 去条件重训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不混用不同CFG结果当同一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对照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这是一套可核验的条件组合实现，不单独证明文本与IMU互补成立。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附录 B：更多全身质量指标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同32 head val；速度覆盖全22关节，与头部速度不同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63040"/>
            <a:ext cx="3657599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536192"/>
            <a:ext cx="3438144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方法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4224527" y="1463040"/>
            <a:ext cx="2468879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34255" y="1536192"/>
            <a:ext cx="2249424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全身速度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m/s 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93407" y="1463040"/>
            <a:ext cx="2468879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03135" y="1536192"/>
            <a:ext cx="2249424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全身jerk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m/s³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62287" y="1463040"/>
            <a:ext cx="2468879" cy="768096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72015" y="1536192"/>
            <a:ext cx="2249424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根轨迹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m 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231136"/>
            <a:ext cx="365759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295144"/>
            <a:ext cx="343814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MDM 仅文本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7" y="2231136"/>
            <a:ext cx="24688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4255" y="2295144"/>
            <a:ext cx="224942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1.158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93407" y="2231136"/>
            <a:ext cx="24688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3135" y="2295144"/>
            <a:ext cx="224942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87.69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62287" y="2231136"/>
            <a:ext cx="24688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72015" y="2295144"/>
            <a:ext cx="224942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0.984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825496"/>
            <a:ext cx="3657599" cy="594360"/>
          </a:xfrm>
          <a:prstGeom prst="rect">
            <a:avLst/>
          </a:prstGeom>
          <a:solidFill>
            <a:srgbClr val="E5F2E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2889503"/>
            <a:ext cx="343814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U100 文本＋IMU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4527" y="2825496"/>
            <a:ext cx="2468879" cy="594360"/>
          </a:xfrm>
          <a:prstGeom prst="rect">
            <a:avLst/>
          </a:prstGeom>
          <a:solidFill>
            <a:srgbClr val="E5F2E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34255" y="2889503"/>
            <a:ext cx="224942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1.056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93407" y="2825496"/>
            <a:ext cx="2468879" cy="594360"/>
          </a:xfrm>
          <a:prstGeom prst="rect">
            <a:avLst/>
          </a:prstGeom>
          <a:solidFill>
            <a:srgbClr val="E5F2E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03135" y="2889503"/>
            <a:ext cx="224942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129.41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62287" y="2825496"/>
            <a:ext cx="2468879" cy="594360"/>
          </a:xfrm>
          <a:prstGeom prst="rect">
            <a:avLst/>
          </a:prstGeom>
          <a:solidFill>
            <a:srgbClr val="E5F2E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72015" y="2889503"/>
            <a:ext cx="224942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7C78"/>
                </a:solidFill>
                <a:latin typeface="Microsoft YaHei"/>
              </a:defRPr>
            </a:pPr>
            <a:r>
              <a:t>0.852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419856"/>
            <a:ext cx="365759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3483864"/>
            <a:ext cx="343814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简单文本＋IMU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24527" y="3419856"/>
            <a:ext cx="24688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34255" y="3483864"/>
            <a:ext cx="224942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0.916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93407" y="3419856"/>
            <a:ext cx="24688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03135" y="3483864"/>
            <a:ext cx="224942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125.35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62287" y="3419856"/>
            <a:ext cx="24688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72015" y="3483864"/>
            <a:ext cx="224942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1.144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014216"/>
            <a:ext cx="365759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" y="4078224"/>
            <a:ext cx="343814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简单 IMU-only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24527" y="4014216"/>
            <a:ext cx="24688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34255" y="4078224"/>
            <a:ext cx="224942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0.975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93407" y="4014216"/>
            <a:ext cx="24688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03135" y="4078224"/>
            <a:ext cx="224942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151.53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62287" y="4014216"/>
            <a:ext cx="2468879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72015" y="4078224"/>
            <a:ext cx="2249424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84C"/>
                </a:solidFill>
                <a:latin typeface="Microsoft YaHei"/>
              </a:defRPr>
            </a:pPr>
            <a:r>
              <a:t>1.132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jerk／接触／幅度代理不能替代物理闭环和行为成功判定。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"/>
            <a:ext cx="11018520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72D46"/>
                </a:solidFill>
                <a:latin typeface="Microsoft YaHei"/>
              </a:defRPr>
            </a:pPr>
            <a:r>
              <a:t>附录 C：资料来源与汇报边界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9728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97A8C"/>
                </a:solidFill>
                <a:latin typeface="Microsoft YaHei"/>
              </a:defRPr>
            </a:pPr>
            <a:r>
              <a:t>全部实验数字绑定实际输出；文献链接见 sources/SOURCES.md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ITM · 导师讨论 · 2026-10-10   |   当前开发实验与研究决策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365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7A8C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541775" cy="73152"/>
          </a:xfrm>
          <a:prstGeom prst="rect">
            <a:avLst/>
          </a:prstGeom>
          <a:solidFill>
            <a:srgbClr val="18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7C78"/>
                </a:solidFill>
                <a:latin typeface="Microsoft YaHei"/>
              </a:defRPr>
            </a:pPr>
            <a:r>
              <a:t>当前结果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HEAD_VALIDATION32_EVA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LUATION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HEAD_PRIMARY_CANDIDA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TE_EVALUATION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原始 aggregates／rows／s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ummary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保留权重、输入、噪声SHA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8160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8160" y="1417320"/>
            <a:ext cx="3541775" cy="73152"/>
          </a:xfrm>
          <a:prstGeom prst="rect">
            <a:avLst/>
          </a:prstGeom>
          <a:solidFill>
            <a:srgbClr val="397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40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977AD"/>
                </a:solidFill>
                <a:latin typeface="Microsoft YaHei"/>
              </a:defRPr>
            </a:pPr>
            <a:r>
              <a:t>代码与文献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本地MDM控制实现与训练计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划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MDM／HumanML3D／AM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ASS官方来源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IMUPoser官方代码／Ego4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o项目页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旧HY-Motion只作历史复盘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9391" y="1417320"/>
            <a:ext cx="3541775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9391" y="1417320"/>
            <a:ext cx="3541775" cy="73152"/>
          </a:xfrm>
          <a:prstGeom prst="rect">
            <a:avLst/>
          </a:prstGeom>
          <a:solidFill>
            <a:srgbClr val="866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2271" y="1682496"/>
            <a:ext cx="3176016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8663AC"/>
                </a:solidFill>
                <a:latin typeface="Microsoft YaHei"/>
              </a:defRPr>
            </a:pPr>
            <a:r>
              <a:t>未完成的主张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2271" y="2542032"/>
            <a:ext cx="3176016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正式test／多种子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标准语义与FID／核心消融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真实头戴设备与患者验证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严格安装点加速度／朝向闭</a:t>
            </a:r>
          </a:p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84C"/>
                </a:solidFill>
                <a:latin typeface="Microsoft YaHei"/>
              </a:defRPr>
            </a:pPr>
            <a:r>
              <a:t>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897880"/>
            <a:ext cx="11064240" cy="521207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5961888"/>
            <a:ext cx="1070762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D46"/>
                </a:solidFill>
                <a:latin typeface="Microsoft YaHei"/>
              </a:defRPr>
            </a:pPr>
            <a:r>
              <a:t>本次是课题进展与研究决策汇报，尚不是最终论文定稿报告。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ITM：文本＋头部IMU全身动作生成 · 2026-10-10导师汇报</dc:title>
  <dc:subject>实际开发进展、方法与实验、研究路线复盘</dc:subject>
  <dc:creator>ITM research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